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8" r:id="rId5"/>
    <p:sldId id="270" r:id="rId6"/>
    <p:sldId id="264" r:id="rId7"/>
    <p:sldId id="272" r:id="rId8"/>
    <p:sldId id="302" r:id="rId9"/>
    <p:sldId id="301" r:id="rId10"/>
    <p:sldId id="300" r:id="rId11"/>
    <p:sldId id="299" r:id="rId12"/>
    <p:sldId id="298" r:id="rId13"/>
    <p:sldId id="297" r:id="rId14"/>
    <p:sldId id="296" r:id="rId15"/>
    <p:sldId id="295" r:id="rId16"/>
    <p:sldId id="294" r:id="rId17"/>
    <p:sldId id="293" r:id="rId18"/>
    <p:sldId id="292" r:id="rId19"/>
    <p:sldId id="291" r:id="rId20"/>
    <p:sldId id="290" r:id="rId21"/>
    <p:sldId id="289" r:id="rId22"/>
    <p:sldId id="288" r:id="rId23"/>
    <p:sldId id="287" r:id="rId24"/>
    <p:sldId id="286" r:id="rId25"/>
    <p:sldId id="285" r:id="rId26"/>
    <p:sldId id="284" r:id="rId27"/>
    <p:sldId id="283" r:id="rId28"/>
    <p:sldId id="282" r:id="rId29"/>
    <p:sldId id="281" r:id="rId30"/>
    <p:sldId id="280" r:id="rId31"/>
    <p:sldId id="279" r:id="rId32"/>
    <p:sldId id="278" r:id="rId33"/>
    <p:sldId id="277" r:id="rId34"/>
    <p:sldId id="276" r:id="rId35"/>
    <p:sldId id="275" r:id="rId36"/>
    <p:sldId id="274" r:id="rId37"/>
    <p:sldId id="273" r:id="rId38"/>
    <p:sldId id="30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9853-85EF-C66C-F1EC-9E46031E9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8F141-5DFE-7F01-936F-C6699FD95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A77DF-ACCA-C7C7-4235-3504E4C8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894EA-ACF6-EB46-FCF5-AEEE859C7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E2287-05B8-A2AA-4167-40A9F6BC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46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8048-CA64-E6D5-D35A-FFFF6C87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A959-5C4F-82FB-E24D-549A16E6A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3E411-A4EA-2474-37D2-D1E92C655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BF384-B4C1-F71E-72C9-E9024FCE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C7ED3-7B75-F65E-1E45-C40A970F1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9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DE183-0193-1213-00C0-5016DD43D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9BB3D-61EC-21B1-FFB6-75689682C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B33F-1F0A-B28E-BE71-5A49CBBE3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81463-6E85-249E-C7D4-29F2FF388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1CC77-99F5-F620-4261-6B36F6F9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44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8354-F83C-04CC-2D9E-CF84998B3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78085-54D9-0672-C50B-506CDA7A7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25E3E-9139-B273-0DCE-D7941DC92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2D7EF-2D78-D5B0-ECC0-A7525D1E6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C82C9-BC68-E165-1C8E-C2661CB3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64683-03BF-4069-B507-65F1AB22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6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C614-991F-509F-C452-7AA5EF78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E7396-4173-80FA-72AB-524307FD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38765-E471-4B2D-2377-7B97BE307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238BD0-E003-8A55-5492-23EE0F6D2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237EE-3773-B90F-F306-AF92E6B65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E5EB9F-337F-6948-8D62-92B2649A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0EF4CD-3ED0-A5A0-AC67-E5AB12C54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8807A-4A0A-DFBE-EB91-C4531041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4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7D2E7-06B8-5349-3822-3105E787C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A677A-8A6D-CECA-8B86-442450E24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87C1A-628E-B247-0D9F-A53ABBA4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522FD-0F86-6069-29C6-2D581AD53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9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D6D0D2-FF21-F8F8-0907-716F6CC4D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912A58-AB65-2A28-A2FC-DF29189D3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B7A04-8C2C-50CD-2A31-967BDB45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51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264D-A8D4-A84E-B2A6-51FF3EE68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9D6A9-B26A-14DC-9873-48B475221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AF9A7-CB80-287A-C559-1D4969A05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34C60-61D7-2E80-D36C-8D6232456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14D20-84D6-BE4A-DF19-F4E844ED2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C8D20-3D2C-95D8-EC9B-081018D5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7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A029-F6A3-051B-78E0-827A267B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FD6729-3CE1-0152-6ADA-FE59160915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E5FB0-A9F3-DEEC-CEE2-217BCAF43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5E36B-9184-7D62-B1BD-1AB8344F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6C9CF-C30B-99E4-6E31-D26575F80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8EAE1-6470-7228-6930-F7B80784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3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1BB2-8CB1-C4BC-39BB-BE78EADD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A949-4A68-DBAC-2214-B8F8CF49B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31135-9D52-69BC-0D91-74449C75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74140-E90F-D960-1645-D05EB6020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20522-F792-0E1B-5FDF-AF7BD72D6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622106-8D62-055F-B8EF-B92AD28BE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366DC-5EE3-6D7F-2C8A-59A76562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F8CE4-335A-330F-7F9A-8DD53A6FF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5DD85-3126-7F2D-762B-CF92C122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A6F4C-DBC7-E609-1FB1-0FAA8F2BA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5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E4AD7-33A8-2E4A-822E-B28768224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CAAF2-AE49-E1A3-8711-D716DF592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9155D-AE01-604B-1B11-DEC74C6A5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7AE67-95AC-4096-AF59-98BAF25026E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D2DAA-6B92-9AA0-5F23-079961698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28442-F460-661B-B65F-6FA9F0C72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BFA8D-8D9F-40A7-B81F-E0719B917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0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E6014-89FC-5432-D67C-2B3BCF0F74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OpenCritic</a:t>
            </a:r>
            <a:r>
              <a:rPr lang="en-US" dirty="0"/>
              <a:t>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8C7CE-CFE1-006A-83AE-711978D064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project scrapes 10,000 video game reviews from OpenCritic.com to analyze patterns in critical reception. It uses Selenium for web scraping, pandas for data cleaning, matplotlib for visualization, and scikit-learn for modeling.</a:t>
            </a:r>
          </a:p>
        </p:txBody>
      </p:sp>
    </p:spTree>
    <p:extLst>
      <p:ext uri="{BB962C8B-B14F-4D97-AF65-F5344CB8AC3E}">
        <p14:creationId xmlns:p14="http://schemas.microsoft.com/office/powerpoint/2010/main" val="2148253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C8DD-FEFF-BBA4-1B9B-AAB6CA199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0A246-7DFE-420B-A973-F7129AEEF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collection starts at opencritic.com/browse/all</a:t>
            </a:r>
          </a:p>
          <a:p>
            <a:r>
              <a:rPr lang="en-US" dirty="0"/>
              <a:t>500 index pages are scraped</a:t>
            </a:r>
          </a:p>
          <a:p>
            <a:r>
              <a:rPr lang="en-US" dirty="0"/>
              <a:t>10,000 item pages are scraped</a:t>
            </a:r>
          </a:p>
          <a:p>
            <a:r>
              <a:rPr lang="en-US" dirty="0"/>
              <a:t>From the index pages: rank, </a:t>
            </a:r>
            <a:r>
              <a:rPr lang="en-US" dirty="0" err="1"/>
              <a:t>url</a:t>
            </a:r>
            <a:r>
              <a:rPr lang="en-US" dirty="0"/>
              <a:t>, genre(s), release date</a:t>
            </a:r>
          </a:p>
          <a:p>
            <a:r>
              <a:rPr lang="en-US" dirty="0"/>
              <a:t>From the item pages: name, top critic average, critics recommend percentage, creator(s), platform(s), number of reviews</a:t>
            </a:r>
          </a:p>
          <a:p>
            <a:r>
              <a:rPr lang="en-US" dirty="0"/>
              <a:t>Stored as a JSON Lines file</a:t>
            </a:r>
          </a:p>
        </p:txBody>
      </p:sp>
    </p:spTree>
    <p:extLst>
      <p:ext uri="{BB962C8B-B14F-4D97-AF65-F5344CB8AC3E}">
        <p14:creationId xmlns:p14="http://schemas.microsoft.com/office/powerpoint/2010/main" val="628573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0531A-3204-4CB9-390F-66687E206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3D56D-8AA9-321B-7973-718F31B4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4DFAA-09DC-E6CC-09A9-D504C60B6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cleaned dataset: 9,317 games with a valid top critic average</a:t>
            </a:r>
          </a:p>
          <a:p>
            <a:r>
              <a:rPr lang="en-US" dirty="0"/>
              <a:t>10 features per game</a:t>
            </a:r>
          </a:p>
          <a:p>
            <a:r>
              <a:rPr lang="en-US" dirty="0"/>
              <a:t>Top critic average (0-100)</a:t>
            </a:r>
          </a:p>
          <a:p>
            <a:r>
              <a:rPr lang="en-US" dirty="0"/>
              <a:t>Critics recommend percentage (0-100%)</a:t>
            </a:r>
          </a:p>
          <a:p>
            <a:r>
              <a:rPr lang="en-US" dirty="0"/>
              <a:t>Number of reviews (3-255)</a:t>
            </a:r>
          </a:p>
          <a:p>
            <a:r>
              <a:rPr lang="en-US" dirty="0"/>
              <a:t>Creator(s) (5,855 unique studios/developers)</a:t>
            </a:r>
          </a:p>
          <a:p>
            <a:r>
              <a:rPr lang="en-US" dirty="0"/>
              <a:t>Platform(s) (14 platforms)</a:t>
            </a:r>
          </a:p>
          <a:p>
            <a:r>
              <a:rPr lang="en-US" dirty="0"/>
              <a:t>Genre(s) (23 distinct genres)</a:t>
            </a:r>
          </a:p>
        </p:txBody>
      </p:sp>
    </p:spTree>
    <p:extLst>
      <p:ext uri="{BB962C8B-B14F-4D97-AF65-F5344CB8AC3E}">
        <p14:creationId xmlns:p14="http://schemas.microsoft.com/office/powerpoint/2010/main" val="3498618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44838-6BC3-A83A-62E1-C84E8DA90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FB9F-6277-A66B-A36C-59054BD3E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8B851-66CB-4672-9EB8-D5056774B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Average top critic score: 71.28</a:t>
            </a:r>
          </a:p>
          <a:p>
            <a:r>
              <a:rPr lang="en-US" dirty="0"/>
              <a:t>Highest: Super Mario Odyssey (93)</a:t>
            </a:r>
          </a:p>
          <a:p>
            <a:r>
              <a:rPr lang="en-US" dirty="0"/>
              <a:t>Lowest: The Day Before (12)</a:t>
            </a:r>
          </a:p>
          <a:p>
            <a:r>
              <a:rPr lang="en-US" dirty="0"/>
              <a:t>Most common platform: PC</a:t>
            </a:r>
          </a:p>
          <a:p>
            <a:r>
              <a:rPr lang="en-US" dirty="0"/>
              <a:t>Most common genres: Action, Adventure</a:t>
            </a:r>
          </a:p>
          <a:p>
            <a:r>
              <a:rPr lang="en-US" dirty="0"/>
              <a:t>Most prolific creator: Nintendo</a:t>
            </a:r>
          </a:p>
        </p:txBody>
      </p:sp>
    </p:spTree>
    <p:extLst>
      <p:ext uri="{BB962C8B-B14F-4D97-AF65-F5344CB8AC3E}">
        <p14:creationId xmlns:p14="http://schemas.microsoft.com/office/powerpoint/2010/main" val="2914284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1BB47-089C-8133-8945-E5A112647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6057-882F-8FC1-5F88-B45D5E2F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Visuals</a:t>
            </a:r>
          </a:p>
        </p:txBody>
      </p:sp>
      <p:pic>
        <p:nvPicPr>
          <p:cNvPr id="5" name="Picture 4" descr="A graph with a number of blue squares&#10;&#10;AI-generated content may be incorrect.">
            <a:extLst>
              <a:ext uri="{FF2B5EF4-FFF2-40B4-BE49-F238E27FC236}">
                <a16:creationId xmlns:a16="http://schemas.microsoft.com/office/drawing/2014/main" id="{CE4C565E-258E-EFA1-FC71-A20ADAF55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496" y="1261760"/>
            <a:ext cx="5611008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7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8BD9-5657-2EF0-C16F-160CA74F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graph with black text&#10;&#10;AI-generated content may be incorrect.">
            <a:extLst>
              <a:ext uri="{FF2B5EF4-FFF2-40B4-BE49-F238E27FC236}">
                <a16:creationId xmlns:a16="http://schemas.microsoft.com/office/drawing/2014/main" id="{1B672468-1F4B-87D5-55D3-53FABF24C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38" y="0"/>
            <a:ext cx="11793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9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blue bars&#10;&#10;AI-generated content may be incorrect.">
            <a:extLst>
              <a:ext uri="{FF2B5EF4-FFF2-40B4-BE49-F238E27FC236}">
                <a16:creationId xmlns:a16="http://schemas.microsoft.com/office/drawing/2014/main" id="{2B4F8E3D-30BA-E932-70BD-15285174D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92" y="0"/>
            <a:ext cx="11877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6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A33B-5736-FF9F-4CF8-2D9E073C7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umber of games&#10;&#10;AI-generated content may be incorrect.">
            <a:extLst>
              <a:ext uri="{FF2B5EF4-FFF2-40B4-BE49-F238E27FC236}">
                <a16:creationId xmlns:a16="http://schemas.microsoft.com/office/drawing/2014/main" id="{25FB0CD1-754E-1011-3058-E844A7657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19" y="637785"/>
            <a:ext cx="9392961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65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DD2E9-A07F-D881-F99C-E2B65FB8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E1660753-7E6E-E7C3-67C6-FA5AF4A75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046" y="637785"/>
            <a:ext cx="9373908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47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04F65-BEAC-E48E-CEA8-43A20CC8B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bars&#10;&#10;AI-generated content may be incorrect.">
            <a:extLst>
              <a:ext uri="{FF2B5EF4-FFF2-40B4-BE49-F238E27FC236}">
                <a16:creationId xmlns:a16="http://schemas.microsoft.com/office/drawing/2014/main" id="{B16CBE1B-E363-420B-AE35-61571583D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993" y="647312"/>
            <a:ext cx="9412013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86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E553F-5622-BF76-4A1C-952A8A467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84A968C6-4A9E-5519-B1A2-1B53A2B7D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56" y="642548"/>
            <a:ext cx="9402487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05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6B07B-3E80-ABAB-9B49-61418699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numbers and letters&#10;&#10;AI-generated content may be incorrect.">
            <a:extLst>
              <a:ext uri="{FF2B5EF4-FFF2-40B4-BE49-F238E27FC236}">
                <a16:creationId xmlns:a16="http://schemas.microsoft.com/office/drawing/2014/main" id="{E5170285-0BA5-166A-27B0-3B9348B9A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993" y="656838"/>
            <a:ext cx="9412013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52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D8D2F-A04E-9CAD-44DB-70D65744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ar graph with blue lines&#10;&#10;AI-generated content may be incorrect.">
            <a:extLst>
              <a:ext uri="{FF2B5EF4-FFF2-40B4-BE49-F238E27FC236}">
                <a16:creationId xmlns:a16="http://schemas.microsoft.com/office/drawing/2014/main" id="{083043E0-88CB-372E-9F46-186AE4C0C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809" y="671127"/>
            <a:ext cx="9364382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10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33418-7198-CA05-8FAD-A61C73FA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9E02DA59-DDA1-43A1-E165-F5A5B1A43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572" y="628259"/>
            <a:ext cx="9354856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01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FAAB4-4FA0-E21B-19C4-24A1CC040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blue bars with white text&#10;&#10;AI-generated content may be incorrect.">
            <a:extLst>
              <a:ext uri="{FF2B5EF4-FFF2-40B4-BE49-F238E27FC236}">
                <a16:creationId xmlns:a16="http://schemas.microsoft.com/office/drawing/2014/main" id="{F6963137-CEA6-4A55-7C4B-1801161B6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230" y="637785"/>
            <a:ext cx="9421540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54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E675-4739-20C4-DE97-B673BFA81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lines&#10;&#10;AI-generated content may be incorrect.">
            <a:extLst>
              <a:ext uri="{FF2B5EF4-FFF2-40B4-BE49-F238E27FC236}">
                <a16:creationId xmlns:a16="http://schemas.microsoft.com/office/drawing/2014/main" id="{D8C4F53E-E9BF-1DFC-94ED-AD6623D91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285" y="1218891"/>
            <a:ext cx="5763429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17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44234-FE17-A7FF-DDB7-17CE33864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umber of bars and numbers&#10;&#10;AI-generated content may be incorrect.">
            <a:extLst>
              <a:ext uri="{FF2B5EF4-FFF2-40B4-BE49-F238E27FC236}">
                <a16:creationId xmlns:a16="http://schemas.microsoft.com/office/drawing/2014/main" id="{88621A6F-48C4-8B5B-8301-E26F16FA3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495" y="1228418"/>
            <a:ext cx="5973009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56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5FF8C-1F49-3118-762D-B756BDE50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games&#10;&#10;AI-generated content may be incorrect.">
            <a:extLst>
              <a:ext uri="{FF2B5EF4-FFF2-40B4-BE49-F238E27FC236}">
                <a16:creationId xmlns:a16="http://schemas.microsoft.com/office/drawing/2014/main" id="{7F0EE32E-BDE6-C473-3E8C-85E89E21C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56" y="642548"/>
            <a:ext cx="9402487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38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28782-CAD1-B235-8FB8-8D7E24EB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255F4C0A-EB18-945F-1EB4-6162816E8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993" y="633022"/>
            <a:ext cx="9412013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21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A44A-B587-3E7C-DE99-A30E0624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bars&#10;&#10;AI-generated content may be incorrect.">
            <a:extLst>
              <a:ext uri="{FF2B5EF4-FFF2-40B4-BE49-F238E27FC236}">
                <a16:creationId xmlns:a16="http://schemas.microsoft.com/office/drawing/2014/main" id="{6827B91D-0EDF-9018-31B6-269DA60BF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809" y="637785"/>
            <a:ext cx="9364382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56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1A307-47B3-696B-3B0F-FC298AFA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bars&#10;&#10;AI-generated content may be incorrect.">
            <a:extLst>
              <a:ext uri="{FF2B5EF4-FFF2-40B4-BE49-F238E27FC236}">
                <a16:creationId xmlns:a16="http://schemas.microsoft.com/office/drawing/2014/main" id="{F99727FC-463D-E063-AFA9-97DB53071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230" y="618733"/>
            <a:ext cx="9421540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46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704F-1D30-BC69-6C85-6F35194FC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distribution of recommendations scores&#10;&#10;AI-generated content may be incorrect.">
            <a:extLst>
              <a:ext uri="{FF2B5EF4-FFF2-40B4-BE49-F238E27FC236}">
                <a16:creationId xmlns:a16="http://schemas.microsoft.com/office/drawing/2014/main" id="{EC423370-1432-25BE-9437-1EADF99E1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022" y="1223654"/>
            <a:ext cx="5591955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39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90B3-F421-3BA1-BED2-26439815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dots&#10;&#10;AI-generated content may be incorrect.">
            <a:extLst>
              <a:ext uri="{FF2B5EF4-FFF2-40B4-BE49-F238E27FC236}">
                <a16:creationId xmlns:a16="http://schemas.microsoft.com/office/drawing/2014/main" id="{BCB8C6E2-EC92-3135-0F01-8AADDFE3A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101" y="1261760"/>
            <a:ext cx="5715798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68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6369E-6D91-4E1D-8598-EA4292F82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61E5674-FDC3-19BE-08A7-0726310FD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441" y="556811"/>
            <a:ext cx="8183117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37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92609-087B-4EA9-B5B0-37F0B8885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7A85537-516F-1C54-A2F0-58A446DA3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73" y="756864"/>
            <a:ext cx="8087854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12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68D5-42C0-F468-11CD-6B2B94520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EDCF16D-EE6F-6E02-301F-7737744BF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574" y="1904787"/>
            <a:ext cx="7182852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42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24BB6-A7F6-5445-EC08-68B2A03E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AA52D9-93C6-F0C3-88B6-C628DF317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100" y="2095314"/>
            <a:ext cx="7163800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106A-701A-1F9B-2C25-A3B4192C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ED8650-107E-D22B-5810-5D35C6BB7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574" y="2090550"/>
            <a:ext cx="7182852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400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7A6D6-6EC7-A524-239B-52B35F622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C68B67C-956A-7323-E5C3-630CBF206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047" y="2081024"/>
            <a:ext cx="7201905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46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1D575-32A2-CB1F-A54C-0D4733C96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95ED240-1FF5-7D85-7ADC-D84F1CE23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100" y="1018838"/>
            <a:ext cx="7525800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73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2F5B7-4706-1335-6A87-F9268D3F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547FE65-1BB7-0DF0-904E-0EB7AE6262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573" y="1209365"/>
            <a:ext cx="7544853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7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DC10-10EE-6224-1DE5-B0BD0DF2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CBA0DC-552D-89FA-83E5-79B4590A9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10" y="1190312"/>
            <a:ext cx="7554379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0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4B12A-C143-4AA7-8277-85216247D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0D4CA8-13C0-4A3A-0663-6CC9B02FE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10" y="1214128"/>
            <a:ext cx="7554379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20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EC71-A7BA-BE21-A2BF-9E15DE352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A658073-506F-8E69-A9E5-272940D2D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890" y="966444"/>
            <a:ext cx="6592220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974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08AA0-3F2F-4AB0-D1DA-6C4F912F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826E2F6-678E-18CF-5754-47D2A1404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127" y="947391"/>
            <a:ext cx="6601746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88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26BB-E469-2D8E-F439-068AD3FBC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F29AA96-DEB0-DCC7-B090-4F26002CB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311" y="923575"/>
            <a:ext cx="6649378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874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CEE36-590F-9F9C-2B1D-FE2964545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0EFC57F-0701-4633-D929-A03B86CCE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837" y="966444"/>
            <a:ext cx="6630325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832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FC10-D276-5070-DE21-E42464E0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60B89-DC71-6936-4140-18C636BCF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had time for a few linear regression models</a:t>
            </a:r>
          </a:p>
          <a:p>
            <a:r>
              <a:rPr lang="en-US" dirty="0"/>
              <a:t>Top critic average variance explained by number of reviews: 8%</a:t>
            </a:r>
          </a:p>
          <a:p>
            <a:r>
              <a:rPr lang="en-US" dirty="0"/>
              <a:t>Variance explained by release year: 1%</a:t>
            </a:r>
          </a:p>
          <a:p>
            <a:r>
              <a:rPr lang="en-US" dirty="0"/>
              <a:t>Variance explained by critic recommend percentage: 74%</a:t>
            </a:r>
          </a:p>
          <a:p>
            <a:r>
              <a:rPr lang="en-US" dirty="0"/>
              <a:t>Variance explained by all 3 of these, using multiple linear regression model: 75%</a:t>
            </a:r>
          </a:p>
        </p:txBody>
      </p:sp>
    </p:spTree>
    <p:extLst>
      <p:ext uri="{BB962C8B-B14F-4D97-AF65-F5344CB8AC3E}">
        <p14:creationId xmlns:p14="http://schemas.microsoft.com/office/powerpoint/2010/main" val="3787580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272</Words>
  <Application>Microsoft Office PowerPoint</Application>
  <PresentationFormat>Widescreen</PresentationFormat>
  <Paragraphs>32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Office Theme</vt:lpstr>
      <vt:lpstr>OpenCritic analysis</vt:lpstr>
      <vt:lpstr>Data Collection</vt:lpstr>
      <vt:lpstr>Data Description</vt:lpstr>
      <vt:lpstr>Key Statistics</vt:lpstr>
      <vt:lpstr>Visuals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Ray</dc:creator>
  <cp:lastModifiedBy>Alan Ray</cp:lastModifiedBy>
  <cp:revision>1</cp:revision>
  <dcterms:created xsi:type="dcterms:W3CDTF">2025-12-04T03:28:35Z</dcterms:created>
  <dcterms:modified xsi:type="dcterms:W3CDTF">2025-12-04T03:50:15Z</dcterms:modified>
</cp:coreProperties>
</file>